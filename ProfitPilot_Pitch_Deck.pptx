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6459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THE REAL-WORLD ECONOMY • PS-1: THE SMALL BUSINESS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ProfitPilot</a:t>
            </a:r>
          </a:p>
          <a:p>
            <a:pPr>
              <a:defRPr sz="2200">
                <a:solidFill>
                  <a:srgbClr val="94A3B8"/>
                </a:solidFill>
              </a:defRPr>
            </a:pPr>
            <a:r>
              <a:t>Autonomous Decision Intelligence for 12 Million Kirana Stores</a:t>
            </a:r>
          </a:p>
          <a:p>
            <a:pPr>
              <a:defRPr sz="1700" i="1">
                <a:solidFill>
                  <a:srgbClr val="10B981"/>
                </a:solidFill>
              </a:defRPr>
            </a:pPr>
            <a:r>
              <a:t>“Roz subah 3 sahi faisle, seedha munafa.”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246888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⚡ 100% Deterministic Math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Zero LLM hallucinations. All metrics computed by pandas/numpy.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4114800"/>
            <a:ext cx="246888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📦 86.9% Forecast Accuracy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7-day dynamic demand forecasting with weekday seasonality weights.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114800"/>
            <a:ext cx="246888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💬 Native Hinglish &amp; Voice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Voice-first conversational advisor supporting Hindi &amp; Hinglish.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4114800"/>
            <a:ext cx="246888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🤖 Autonomous Order Desk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10-step autonomous agent pipeline for customer order fulfillment.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KiranaFlow AI Architecture | Powered by FastAPI, React 19, Pandas &amp; Google Gemini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Broken Reality of 12M+ Indian Kirana Stores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Most retailers manage inventory and financial decisions purely on memory and intuition.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🚨 Stockouts of Fast Movers</a:t>
            </a:r>
          </a:p>
          <a:p>
            <a:pPr>
              <a:defRPr sz="1100" i="1">
                <a:solidFill>
                  <a:srgbClr val="64748B"/>
                </a:solidFill>
              </a:defRPr>
            </a:pPr>
            <a:r>
              <a:t>Items like Atta, Milk, and Oil run out without warning during peak hours.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15% to 22% daily revenue lost due to out-of-stock staples.</a:t>
            </a:r>
            <a:br/>
            <a:r>
              <a:t>• Customers migrate to quick-commerce (Blinkit/Zepto).</a:t>
            </a:r>
            <a:br/>
            <a:r>
              <a:t>• Merchants reorder reactively instead of proactively.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375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🔒 Frozen Working Capital</a:t>
            </a:r>
          </a:p>
          <a:p>
            <a:pPr>
              <a:defRPr sz="1100" i="1">
                <a:solidFill>
                  <a:srgbClr val="64748B"/>
                </a:solidFill>
              </a:defRPr>
            </a:pPr>
            <a:r>
              <a:t>Slow-moving &amp; dead inventory sits on back shelves for months unnoticed.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₹30,000 - ₹50,000 cash locked per store in dead stock.</a:t>
            </a:r>
            <a:br/>
            <a:r>
              <a:t>• Expiration &amp; damage eat up precious working capital.</a:t>
            </a:r>
            <a:br/>
            <a:r>
              <a:t>• Zero visibility into days-of-stock-left across SKUs.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375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📉 Invisible Expense &amp; Margin Leaks</a:t>
            </a:r>
          </a:p>
          <a:p>
            <a:pPr>
              <a:defRPr sz="1100" i="1">
                <a:solidFill>
                  <a:srgbClr val="64748B"/>
                </a:solidFill>
              </a:defRPr>
            </a:pPr>
            <a:r>
              <a:t>Thin retail margins (8-12%) get wiped out by silent operational spikes.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Wastage (dairy/bread spoilages) spiking 10x above normal.</a:t>
            </a:r>
            <a:br/>
            <a:r>
              <a:t>• Unmonitored auto-freight and utility surges.</a:t>
            </a:r>
            <a:br/>
            <a:r>
              <a:t>• Products being sold below optimal margins (&lt;8%).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91B1B"/>
                </a:solidFill>
              </a:defRPr>
            </a:pPr>
            <a:r>
              <a:t>⚠️ WHY EXISTING APPS FAIL: Khatabook &amp; Vyapar are passive digital ledgers. They record history, but they NEVER tell the merchant what to do TODAY to protect profit.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ProfitPilot: The Retail Decision Engine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Transforming passive record-keeping into automated, high-confidence profit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🎯 1. Daily Action Engine</a:t>
            </a:r>
          </a:p>
          <a:p>
            <a:pPr>
              <a:defRPr sz="1200" b="1">
                <a:solidFill>
                  <a:srgbClr val="64748B"/>
                </a:solidFill>
              </a:defRPr>
            </a:pPr>
            <a:r>
              <a:t>Roz Subah 3 Sahi Faisle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Delivers exactly 3 prioritized, high-impact business decisions every morning with quantified Rupee (₹) gains.</a:t>
            </a:r>
            <a:br/>
            <a:br/>
            <a:r>
              <a:t>• Prioritized by urgency &amp; financial impact</a:t>
            </a:r>
            <a:br/>
            <a:r>
              <a:t>• 1-Click WhatsApp Purchase Order direct to distributor</a:t>
            </a:r>
            <a:br/>
            <a:r>
              <a:t>• Actionable daily Hinglish briefing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375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🔬 2. Deterministic Intelligence</a:t>
            </a:r>
          </a:p>
          <a:p>
            <a:pPr>
              <a:defRPr sz="1200" b="1">
                <a:solidFill>
                  <a:srgbClr val="64748B"/>
                </a:solidFill>
              </a:defRPr>
            </a:pPr>
            <a:r>
              <a:t>Reducing Reliance on Intuition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Built entirely on pandas and numpy analytics. Zero black-box hallucinations for numbers.</a:t>
            </a:r>
            <a:br/>
            <a:br/>
            <a:r>
              <a:t>• 7-day demand forecasting with seasonality</a:t>
            </a:r>
            <a:br/>
            <a:r>
              <a:t>• WAPE backtested accuracy of 86.9%</a:t>
            </a:r>
            <a:br/>
            <a:r>
              <a:t>• Intuition vs Data comparison (+₹11,795/mo gain)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375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🗣️ 3. Bilingual Voice &amp; Copilot</a:t>
            </a:r>
          </a:p>
          <a:p>
            <a:pPr>
              <a:defRPr sz="1200" b="1">
                <a:solidFill>
                  <a:srgbClr val="64748B"/>
                </a:solidFill>
              </a:defRPr>
            </a:pPr>
            <a:r>
              <a:t>Hinglish Native Interaction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Engineered specifically for Indian merchants who cannot type complex desktop queries.</a:t>
            </a:r>
            <a:br/>
            <a:br/>
            <a:r>
              <a:t>• Native browser Web Speech API (Hindi/English)</a:t>
            </a:r>
            <a:br/>
            <a:r>
              <a:t>• Conversational query: 'Atta kab khatam hoga?'</a:t>
            </a:r>
            <a:br/>
            <a:r>
              <a:t>• Quick Entry: '2 atta becha', 'bijli bill 1800 diya'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End-to-End Modular Architecture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High-performance Python backend with decoupled analytics, autonomous agent, and reactive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1. Presentation &amp; Input — [React 19 + TypeScript + Web Speech API]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• Mobile-first responsive UI with Tailwind &amp; SVG charts</a:t>
            </a:r>
            <a:br/>
            <a:r>
              <a:t>• Voice speech-to-text recognition in Hindi (`hi-IN`) and English</a:t>
            </a:r>
            <a:br/>
            <a:r>
              <a:t>• Natural language quick ledger entry &amp; CSV data ingestion hub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2. API &amp; Orchestration — [FastAPI + Pydantic v2 Engine]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• Asynchronous high-throughput REST API</a:t>
            </a:r>
            <a:br/>
            <a:r>
              <a:t>• Strict Pydantic schema validation &amp; sanitization</a:t>
            </a:r>
            <a:br/>
            <a:r>
              <a:t>• Autonomous 10-step agent pipeline orchestration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3. Analytics Core (Pandas) — [Deterministic Pandas &amp; NumPy Engine]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• 7-day demand forecasting (0.6x 14d + 0.4x 28d + Day-of-week weights)</a:t>
            </a:r>
            <a:br/>
            <a:r>
              <a:t>• Dynamic Days-of-Stock Remaining &amp; Reorder thresholds</a:t>
            </a:r>
            <a:br/>
            <a:r>
              <a:t>• Dead Stock recovery &amp; 1.4x Expense anomaly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4. AI &amp; Data Layer — [Gemini AI + Rule Fallbacks + SQLite]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• Google Gemini AI conversational explainer (with sub-100ms offline fallback)</a:t>
            </a:r>
            <a:br/>
            <a:r>
              <a:t>• SQLite dual transactional database (business_brain.db + brain.db)</a:t>
            </a:r>
            <a:br/>
            <a:r>
              <a:t>• Full audit trails with AgentEvent logging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5 Core Mobile-First Screens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Designed specifically for daily merchant workflows in under 2 minutes every morning.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🏪 Home</a:t>
            </a:r>
          </a:p>
          <a:p>
            <a:pPr>
              <a:defRPr sz="1050" b="1">
                <a:solidFill>
                  <a:srgbClr val="64748B"/>
                </a:solidFill>
              </a:defRPr>
            </a:pPr>
            <a:r>
              <a:t>Store Health &amp; Daily Decisions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0-100 Store Health Index</a:t>
            </a:r>
            <a:br/>
            <a:r>
              <a:t>• 4 component breakdown (Stock, Dead Stock, Margin, Expenses)</a:t>
            </a:r>
            <a:br/>
            <a:r>
              <a:t>• Aaj Ke Top 3 Kaam (Ranked by Rupee impact)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64592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📦 Stock Brain</a:t>
            </a:r>
          </a:p>
          <a:p>
            <a:pPr>
              <a:defRPr sz="1050" b="1">
                <a:solidFill>
                  <a:srgbClr val="64748B"/>
                </a:solidFill>
              </a:defRPr>
            </a:pPr>
            <a:r>
              <a:t>Inventory &amp; Reorder Forecast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SKU-level days-of-stock left</a:t>
            </a:r>
            <a:br/>
            <a:r>
              <a:t>• Dynamic 7-day demand forecast</a:t>
            </a:r>
            <a:br/>
            <a:r>
              <a:t>• 1-click PO generation for critical items</a:t>
            </a:r>
            <a:br/>
            <a:r>
              <a:t>• Dead stock recovery tags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64592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💰 Money Brain</a:t>
            </a:r>
          </a:p>
          <a:p>
            <a:pPr>
              <a:defRPr sz="1050" b="1">
                <a:solidFill>
                  <a:srgbClr val="64748B"/>
                </a:solidFill>
              </a:defRPr>
            </a:pPr>
            <a:r>
              <a:t>Financials &amp; Anomaly Radar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8-week comparative trend chart</a:t>
            </a:r>
            <a:br/>
            <a:r>
              <a:t>• Category expense distribution</a:t>
            </a:r>
            <a:br/>
            <a:r>
              <a:t>• 1.4x baseline anomaly detection</a:t>
            </a:r>
            <a:br/>
            <a:r>
              <a:t>• Net profit &amp; margin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64592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💬 Ask Brain</a:t>
            </a:r>
          </a:p>
          <a:p>
            <a:pPr>
              <a:defRPr sz="1050" b="1">
                <a:solidFill>
                  <a:srgbClr val="64748B"/>
                </a:solidFill>
              </a:defRPr>
            </a:pPr>
            <a:r>
              <a:t>AI Retail Advisor (Voice)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Bilingual Hinglish conversational advisor</a:t>
            </a:r>
            <a:br/>
            <a:r>
              <a:t>• Web Speech Hindi voice input</a:t>
            </a:r>
            <a:br/>
            <a:r>
              <a:t>• Explainability badges (Gemini vs Pandas)</a:t>
            </a:r>
            <a:br/>
            <a:r>
              <a:t>• Instant offline rule fallback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164592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➕ Add Data</a:t>
            </a:r>
          </a:p>
          <a:p>
            <a:pPr>
              <a:defRPr sz="1050" b="1">
                <a:solidFill>
                  <a:srgbClr val="64748B"/>
                </a:solidFill>
              </a:defRPr>
            </a:pPr>
            <a:r>
              <a:t>Store Sync &amp; Quick Entry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Conversational Quick Entry ('2 atta becha')</a:t>
            </a:r>
            <a:br/>
            <a:r>
              <a:t>• Bulk CSV uploads (Products, Sales, Expenses)</a:t>
            </a:r>
            <a:br/>
            <a:r>
              <a:t>• One-click 60-day empirical dataset seeder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AUTONOMOUS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AI Order Desk: 10-Step Autonomous Pipeline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End-to-end customer order processing from colloquial WhatsApp/voice message to delivery dispatch.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Step 1: Receive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Receive Hindi/English text or voice order via WhatsApp or In-Store.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5120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Step 2: Understand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Parse natural language into structured items, quantities, and delivery preference.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5120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Step 3: Disambiguate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Fuzzy-match aliases &amp; prompt user if brand is ambiguous (e.g., Aashirvaad vs Fortune Atta).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60"/>
            <a:ext cx="5120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Step 4: Resolve Products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Map recognized items to real inventory catalog and check live stock levels.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5120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Step 5: Check Inventory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Verify stock availability; suggest real alternatives if any SKU is out of stock.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645920"/>
            <a:ext cx="5120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Step 6: Price Validation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Retrieve strictly verified server-side Selling Price and calculate accurate line totals.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9535" y="2514600"/>
            <a:ext cx="5120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Step 7: Create Order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Generate validated order record in database with customer profile link.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9535" y="3383280"/>
            <a:ext cx="5120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Step 8: Update Stock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Deduct inventory atomically and log full InventoryTransaction audit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9535" y="4251960"/>
            <a:ext cx="5120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Step 9: Assign Delivery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Auto-assign available neighborhood delivery boy (e.g. Raju on Bicycle).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9535" y="5120640"/>
            <a:ext cx="5120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Step 10: Bilingual Confirm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Generate formatted bilingual WhatsApp confirmation message (Hindi &amp; English).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MATHEMATICAL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Deterministic Statistical Formulations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Every insight is backed by proven statistical math, verified against 60 days of transactional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Daily Demand Velocity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base = 0.6 * avg_14d + 0.4 * avg_28d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Weights recent 14-day purchasing trends while preserving monthly baseline stability.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7-Day Demand Forecast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forecast_7d = base * sum(weekday_factor_i)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Modulated by day-of-week seasonality (Kiranas experience strong Saturday/Sunday peaks).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Days-of-Stock Remaining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days_left = current_stock / daily_demand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Red Alert if &lt;= 3 days; Amber Warning if &lt;= 5 days. Triggers instant reorder card.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64592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WAPE Backtest Accuracy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Accuracy = 1 - (sum |f_7 - actual| / sum actual)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Evaluated via rolling backtest. Achieves 86.9% forecast accuracy across staple SKUs.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9535" y="32004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Dead Stock Recovery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days_since_last_sale &gt;= 30 and stock &gt; 0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Calculates exact locked working capital (stock * cost_price) and proposes bundle discount.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475488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Expense Anomaly Radar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last_7d_expense / 4wk_weekly_avg &gt;= 1.4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Flags sudden operational spikes (e.g. wastage jumping 13x) with minimum ₹200 threshold.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MARKET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How ProfitPilot Outperforms Existing Tools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 leap forward from passive record-keeping to proactive decision intelligence.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2743200"/>
                <a:gridCol w="3047695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 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Khatabook / Vyapar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Generic GenAI Tools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ProfitPilot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Core Function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Passive Ledger &amp; Debt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Conversational Chatbot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Proactive Daily Decision Engine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Mathematical Foundation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Basic Addition / Subtraction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Probabilistic LLM (Can Hallucinate)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100% Deterministic Pandas &amp; NumPy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Demand Forecasting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None (Static threshold alerts)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Generic internet assumptions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7-Day Seasonality Weighted (86.9% acc)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Language &amp; 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English / Basic Hindi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English text heavy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Native Hinglish Voice &amp; Web Speech API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Autonomous Order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Manual bill 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10-Step End-to-End Pipeline &amp; Dispatch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ECONOMIC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Unit Economics &amp; Monthly Profit ROI for Merchants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Measurable financial gains that directly increase the bottom-line take-home income.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₹12,000+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Zero Stockouts / Mo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Recovers lost revenue on top 10 high-velocity staple SKUs.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3864" y="1645920"/>
            <a:ext cx="24688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0D9488"/>
                </a:solidFill>
              </a:defRPr>
            </a:pPr>
            <a:r>
              <a:t>₹8,500+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Dead Stock Cash Unlocked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Reclaims working capital by discounting and bundling stale items.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645920"/>
            <a:ext cx="24688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₹4,500+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Wastage &amp; Anomaly Savings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Stops hidden utility and perishable dairy spoilages early.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88552" y="1645920"/>
            <a:ext cx="24688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₹25,000+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Net Monthly Profit Boost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+25% to +35% increase in merchant take-home profit every month.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📈 Real Kirana Simulation Case Study: 'Sharma General Store'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• Baseline Before Brain: ₹2.84L 30-day revenue, ₹7,149 net profit (2.5% margin), ₹5,795 cash frozen in dead stock, 4 staple items at immediate stockout risk.</a:t>
            </a:r>
            <a:br/>
            <a:r>
              <a:t>• Action Taken: Merchant executed 3 recommended actions: 1) Auto-reordered 18 Aashirvaad Atta packs, 2) Applied 10% discount promo on Patanjali Atta, 3) Fixed dairy refrigeration leak.</a:t>
            </a:r>
            <a:br/>
            <a:r>
              <a:t>• 30-Day Result: Stock availability restored to 98%, zero lost customers to quick commerce, net profit doubled to ₹18,400+.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Scaling from Store Brain to Hyperlocal Network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Next steps to transform single-store intelligence into an ecosystem-scale network.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Phase 1: Present (Hackathon)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Single-Store Decision Brain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• Completed &amp; Verified 5 core mobile screens</a:t>
            </a:r>
            <a:br/>
            <a:r>
              <a:t>• 7-day demand forecasting &amp; WAPE backtesting</a:t>
            </a:r>
            <a:br/>
            <a:r>
              <a:t>• Autonomous WhatsApp &amp; Voice order agent</a:t>
            </a:r>
            <a:br/>
            <a:r>
              <a:t>• Natural language Hinglish quick entry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Phase 2: Next 3 Months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B2B Supplier Linkages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• Direct WhatsApp PO dispatch to FMCG distributors</a:t>
            </a:r>
            <a:br/>
            <a:r>
              <a:t>• Automatic vendor price comparison engine</a:t>
            </a:r>
            <a:br/>
            <a:r>
              <a:t>• Barcode scanning via mobile camera for rapid shelf audits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Phase 3: Next 6 Months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ONDC &amp; Hyperlocal Network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• Seamless integration into ONDC (Open Network for Digital Commerce)</a:t>
            </a:r>
            <a:br/>
            <a:r>
              <a:t>• Collective bulk-bargaining pool for local kirana clusters</a:t>
            </a:r>
            <a:br/>
            <a:r>
              <a:t>• Micro-lending credit score derived from ledger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45720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ProfitPilot</a:t>
            </a:r>
          </a:p>
          <a:p>
            <a:pPr algn="ctr">
              <a:defRPr sz="1700">
                <a:solidFill>
                  <a:srgbClr val="10B981"/>
                </a:solidFill>
              </a:defRPr>
            </a:pPr>
            <a:r>
              <a:t>Empowering India's 12 Million Kirana Stores with Daily Decision Intelligence</a:t>
            </a:r>
          </a:p>
          <a:p>
            <a:br/>
            <a:pPr algn="ctr">
              <a:defRPr sz="1800" i="1">
                <a:solidFill>
                  <a:srgbClr val="E2E8F0"/>
                </a:solidFill>
              </a:defRPr>
            </a:pPr>
            <a:r>
              <a:t>“Roz subah 3 sahi faisle, seedha munafa.”</a:t>
            </a:r>
            <a:br/>
          </a:p>
          <a:p>
            <a:pPr algn="ctr">
              <a:defRPr sz="1300" b="1">
                <a:solidFill>
                  <a:srgbClr val="0D9488"/>
                </a:solidFill>
              </a:defRPr>
            </a:pPr>
            <a:r>
              <a:t>⚡ 100% Deterministic Math  |  📦 86.9% Forecast Accuracy  |  💬 Hinglish Voice Native  |  🤖 10-Step Order Agent</a:t>
            </a:r>
            <a:br/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Live Demo &amp; Documentation Ready • 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